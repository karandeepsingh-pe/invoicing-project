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Invoicing Platform —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B6E"/>
                </a:solidFill>
                <a:latin typeface="Calibri"/>
              </a:rPr>
              <a:t>Server-rendered Next.js monolith · Postgres · On-demand xlsx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6858000" cy="77724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27632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Browser (Admin / SDM)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4F6FA"/>
                </a:solidFill>
                <a:latin typeface="Calibri"/>
              </a:rPr>
              <a:t>React 19 + Tailwind + shadcn/ui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441448"/>
            <a:ext cx="6858000" cy="777240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51460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Next.js 15 — App Router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852928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4F6FA"/>
                </a:solidFill>
                <a:latin typeface="Calibri"/>
              </a:rPr>
              <a:t>RSC + Server Actions · NextAuth v5 (Entra ID)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328416"/>
            <a:ext cx="6858000" cy="777240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401568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Domain Services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739896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4F6FA"/>
                </a:solidFill>
                <a:latin typeface="Calibri"/>
              </a:rPr>
              <a:t>Rate resolution · Assignment guards · Invoice engine (ExcelJS)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215384"/>
            <a:ext cx="6858000" cy="777240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288536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Prisma Client (singleton)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626864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4F6FA"/>
                </a:solidFill>
                <a:latin typeface="Calibri"/>
              </a:rPr>
              <a:t>Type-safe queries · Migration history checked-in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102352"/>
            <a:ext cx="6858000" cy="777240"/>
          </a:xfrm>
          <a:prstGeom prst="rect">
            <a:avLst/>
          </a:prstGeom>
          <a:solidFill>
            <a:srgbClr val="555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175504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PostgreSQL 15+   |   Object Storage (Blob / S3)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513832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4F6FA"/>
                </a:solidFill>
                <a:latin typeface="Calibri"/>
              </a:rPr>
              <a:t>Partial-unique indexes · Blob URLs only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89520" y="1554480"/>
            <a:ext cx="4114800" cy="47548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0" y="16459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E3D"/>
                </a:solidFill>
                <a:latin typeface="Calibri"/>
              </a:rPr>
              <a:t>Key Invariants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210312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• DEDICATED single-account: app + DB partial unique index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• SDM scoping enforced on every query (UserAccountAccess)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• Immutable updates — no in-place mutation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• Rate cells nullable — fill commercials over time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• DATE-only timesheets at launch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Invoice Flow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(account, period) → Org → template → Assignments × Entries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→ AccountRate join (band + sub-cat + SLA) → ExcelJS → Blob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B6E"/>
                </a:solidFill>
                <a:latin typeface="Calibri"/>
              </a:rPr>
              <a:t>Pinned versions · pnpm-managed · TypeScript end-to-end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2788920" cy="10972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109728" cy="109728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19072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E3D"/>
                </a:solidFill>
                <a:latin typeface="Calibri"/>
              </a:rPr>
              <a:t>Next.js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B6E"/>
                </a:solidFill>
                <a:latin typeface="Calibri"/>
              </a:rPr>
              <a:t>App Router + RSC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55848" y="1554480"/>
            <a:ext cx="2788920" cy="10972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55848" y="1554480"/>
            <a:ext cx="109728" cy="109728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84448" y="1719072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E3D"/>
                </a:solidFill>
                <a:latin typeface="Calibri"/>
              </a:rPr>
              <a:t>React 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4448" y="210312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B6E"/>
                </a:solidFill>
                <a:latin typeface="Calibri"/>
              </a:rPr>
              <a:t>Server-first UI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54496" y="1554480"/>
            <a:ext cx="2788920" cy="10972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54496" y="1554480"/>
            <a:ext cx="109728" cy="109728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83096" y="1719072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E3D"/>
                </a:solidFill>
                <a:latin typeface="Calibri"/>
              </a:rPr>
              <a:t>TypeScript 5.7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3096" y="210312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B6E"/>
                </a:solidFill>
                <a:latin typeface="Calibri"/>
              </a:rPr>
              <a:t>End-to-end types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53144" y="1554480"/>
            <a:ext cx="2788920" cy="10972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53144" y="1554480"/>
            <a:ext cx="109728" cy="109728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81744" y="1719072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E3D"/>
                </a:solidFill>
                <a:latin typeface="Calibri"/>
              </a:rPr>
              <a:t>Tailwind 3.4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81744" y="210312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B6E"/>
                </a:solidFill>
                <a:latin typeface="Calibri"/>
              </a:rPr>
              <a:t>Utility-first CSS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816352"/>
            <a:ext cx="2788920" cy="10972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2816352"/>
            <a:ext cx="109728" cy="109728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2980944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E3D"/>
                </a:solidFill>
                <a:latin typeface="Calibri"/>
              </a:rPr>
              <a:t>PostgreSQL 15+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3364992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B6E"/>
                </a:solidFill>
                <a:latin typeface="Calibri"/>
              </a:rPr>
              <a:t>Decimals + partial idx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55848" y="2816352"/>
            <a:ext cx="2788920" cy="10972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55848" y="2816352"/>
            <a:ext cx="109728" cy="109728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84448" y="2980944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E3D"/>
                </a:solidFill>
                <a:latin typeface="Calibri"/>
              </a:rPr>
              <a:t>Prisma 6.2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84448" y="3364992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B6E"/>
                </a:solidFill>
                <a:latin typeface="Calibri"/>
              </a:rPr>
              <a:t>Type-safe ORM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54496" y="2816352"/>
            <a:ext cx="2788920" cy="10972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54496" y="2816352"/>
            <a:ext cx="109728" cy="109728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83096" y="2980944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E3D"/>
                </a:solidFill>
                <a:latin typeface="Calibri"/>
              </a:rPr>
              <a:t>NextAuth v5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83096" y="3364992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B6E"/>
                </a:solidFill>
                <a:latin typeface="Calibri"/>
              </a:rPr>
              <a:t>Entra ID OIDC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53144" y="2816352"/>
            <a:ext cx="2788920" cy="10972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153144" y="2816352"/>
            <a:ext cx="109728" cy="109728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81744" y="2980944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E3D"/>
                </a:solidFill>
                <a:latin typeface="Calibri"/>
              </a:rPr>
              <a:t>Zod 3.24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81744" y="3364992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B6E"/>
                </a:solidFill>
                <a:latin typeface="Calibri"/>
              </a:rPr>
              <a:t>Boundary validation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4078224"/>
            <a:ext cx="2788920" cy="10972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7200" y="4078224"/>
            <a:ext cx="109728" cy="109728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4242816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E3D"/>
                </a:solidFill>
                <a:latin typeface="Calibri"/>
              </a:rPr>
              <a:t>ExcelJS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4626864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B6E"/>
                </a:solidFill>
                <a:latin typeface="Calibri"/>
              </a:rPr>
              <a:t>Template xlsx render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355848" y="4078224"/>
            <a:ext cx="2788920" cy="10972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355848" y="4078224"/>
            <a:ext cx="109728" cy="109728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584448" y="4242816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E3D"/>
                </a:solidFill>
                <a:latin typeface="Calibri"/>
              </a:rPr>
              <a:t>Vitest 2.1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84448" y="4626864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B6E"/>
                </a:solidFill>
                <a:latin typeface="Calibri"/>
              </a:rPr>
              <a:t>Unit tests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54496" y="4078224"/>
            <a:ext cx="2788920" cy="10972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54496" y="4078224"/>
            <a:ext cx="109728" cy="109728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83096" y="4242816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E3D"/>
                </a:solidFill>
                <a:latin typeface="Calibri"/>
              </a:rPr>
              <a:t>Playwright 1.50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83096" y="4626864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B6E"/>
                </a:solidFill>
                <a:latin typeface="Calibri"/>
              </a:rPr>
              <a:t>E2E flows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153144" y="4078224"/>
            <a:ext cx="2788920" cy="10972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153144" y="4078224"/>
            <a:ext cx="109728" cy="109728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381744" y="4242816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E3D"/>
                </a:solidFill>
                <a:latin typeface="Calibri"/>
              </a:rPr>
              <a:t>pnpm 10.33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81744" y="4626864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B6E"/>
                </a:solidFill>
                <a:latin typeface="Calibri"/>
              </a:rPr>
              <a:t>Deterministic installs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5852160"/>
            <a:ext cx="11247120" cy="640080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Stateless workers · DB-backed sessions · Object storage for blobs · Validate at every boundary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Scalability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B6E"/>
                </a:solidFill>
                <a:latin typeface="Calibri"/>
              </a:rPr>
              <a:t>Compute · Database · Storage · Schema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5577840" cy="23774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5577840" cy="457200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2763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Compute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03120"/>
            <a:ext cx="5303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• Stateless Next.js workers — horizontal scale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• No sticky session (DB-backed)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• Edge cache static assets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• Invoice gen → job queue when p99 &gt; 5s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554480"/>
            <a:ext cx="5577840" cy="23774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554480"/>
            <a:ext cx="5577840" cy="457200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62763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Database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103120"/>
            <a:ext cx="5303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• Managed Postgres (Neon / Supabase) + PgBouncer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• Hot-path indexes on rates, assignments, timesheets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• Read replicas for reporting load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• Partition timesheet_entries past ~50M rows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069080"/>
            <a:ext cx="5577840" cy="23774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069080"/>
            <a:ext cx="5577840" cy="457200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14223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Storage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617720"/>
            <a:ext cx="5303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• Xlsx → Vercel Blob / S3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• DB stores only InvoiceRun.fileUrl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• Bucket lifecycle rule for retention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• No file bytes in Postgres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4069080"/>
            <a:ext cx="5577840" cy="23774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4069080"/>
            <a:ext cx="5577840" cy="457200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414223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Schema / Domain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617720"/>
            <a:ext cx="5303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• New SLA / sub-cat = INSERT, zero migration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• Sparse rate matrix via nullable cells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• Multi-currency: per-account override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• Multi-tenant ready: scope by OrgId claim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