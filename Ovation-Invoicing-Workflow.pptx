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01168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1A1A1A"/>
                </a:solidFill>
                <a:latin typeface="Calibri"/>
              </a:rPr>
              <a:t>Ovation Invoicing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B30920"/>
                </a:solidFill>
                <a:latin typeface="Calibri"/>
              </a:rPr>
              <a:t>Business Workflow - onboarding to approved, delivered invoice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840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66666"/>
                </a:solidFill>
                <a:latin typeface="Calibri"/>
              </a:rPr>
              <a:t>Role-based access (Admin / SDM / Approver)  -  Microsoft Entra sign-in  -  approval &amp; delivery by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Internal invoice automation  - 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Steps 1-8 built &amp; in use   |   steps 9-10 planned (approval + email)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Onboard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Org + output template (FSO/Pre-Invoice)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62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62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0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Add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Billing unit + SDM owner assigned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48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Set rate 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Category x band x SLA + misc fees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34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Add technicians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Band, category, start 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554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820656" y="1682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0656" y="1682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4" y="2267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Assign 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8944" y="2761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Tech x account -&gt; active window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840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6656" y="3968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3968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" y="4553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Monthly timesheet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" y="5047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Hours + day-codes; dispatch visits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34640" y="3840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62656" y="3968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62656" y="3968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553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Edit / reconcile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0944" y="5047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Fix cells, coverage, exceptions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3840480"/>
            <a:ext cx="2121408" cy="196596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248656" y="3968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48656" y="3968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66944" y="4553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Generate invoice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6944" y="5047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Pre-Invoice/FSO + bundle (xlsx)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06640" y="3840480"/>
            <a:ext cx="21214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534656" y="3968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34656" y="3968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553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Approve by email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2944" y="5047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Routed to Approver -&gt; approve/reject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52944" y="5495544"/>
            <a:ext cx="1847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B30920"/>
                </a:solidFill>
                <a:latin typeface="Calibri"/>
              </a:rPr>
              <a:t>PLANNED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92640" y="3840480"/>
            <a:ext cx="212140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820656" y="3968496"/>
            <a:ext cx="457200" cy="4572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20656" y="396849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38944" y="4553712"/>
            <a:ext cx="184708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Deliver + remind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38944" y="5047488"/>
            <a:ext cx="184708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Email client; reminders; alerts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38944" y="5495544"/>
            <a:ext cx="18470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B30920"/>
                </a:solidFill>
                <a:latin typeface="Calibri"/>
              </a:rPr>
              <a:t>PLANNED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Role-based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Microsoft Entra sign-in, restricted to @ovationwps.com. Visibility is row-level by account ownership.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420624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611880" cy="82296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6712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Operations /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Sees ALL clients &amp; accounts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Manage clients, accounts, rate cards, technicians, masters, users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Generate AND approve invoices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600200"/>
            <a:ext cx="3611880" cy="420624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6552" y="1600200"/>
            <a:ext cx="3611880" cy="82296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70992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SDM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16712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Service Delivery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65176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Sees ONLY their own accounts (by SDM email)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Enter timesheets, log dispatch, generate invoices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Submit invoices for approval. No rate-card / master edits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84464" y="1600200"/>
            <a:ext cx="3611880" cy="420624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4464" y="1600200"/>
            <a:ext cx="3611880" cy="82296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13064" y="170992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216712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Admin / Finance  (planned)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265176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Reviews invoices routed for approval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Approve -&gt; emailed to client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- Reject -&gt; back to SDM with notes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Approval &amp; delivery by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Sent via Microsoft Graph from a controlled Ovation mailbox - recorded in Exchange Sent Items + retention.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877824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09728" cy="786384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46504"/>
            <a:ext cx="82296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SDM generates invoice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746504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alibri"/>
              </a:rPr>
              <a:t>Submit for approval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24328"/>
            <a:ext cx="877824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624328"/>
            <a:ext cx="109728" cy="786384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79192"/>
            <a:ext cx="82296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Approval request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679192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alibri"/>
              </a:rPr>
              <a:t>-&gt; Approver (Admin / Finance)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57016"/>
            <a:ext cx="877824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557016"/>
            <a:ext cx="109728" cy="786384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11880"/>
            <a:ext cx="82296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Approver decides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611880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alibri"/>
              </a:rPr>
              <a:t>Approve  /  Reject (back to SDM)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89704"/>
            <a:ext cx="877824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489704"/>
            <a:ext cx="109728" cy="786384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544568"/>
            <a:ext cx="82296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Invoice emailed to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544568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alibri"/>
              </a:rPr>
              <a:t>From billing@ovationwps.com -&gt; Issued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422392"/>
            <a:ext cx="877824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5422392"/>
            <a:ext cx="109728" cy="786384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477256"/>
            <a:ext cx="822960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Payment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5477256"/>
            <a:ext cx="4023360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666666"/>
                </a:solidFill>
                <a:latin typeface="Calibri"/>
              </a:rPr>
              <a:t>Until marked Paid (Net-30 default)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1691640"/>
            <a:ext cx="1920240" cy="4069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309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02368" y="1874519"/>
            <a:ext cx="16459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B30920"/>
                </a:solidFill>
                <a:latin typeface="Calibri"/>
              </a:rPr>
              <a:t>Email touchpoints</a:t>
            </a:r>
          </a:p>
          <a:p>
            <a:pPr algn="l">
              <a:spcAft>
                <a:spcPts val="9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Approval request</a:t>
            </a:r>
          </a:p>
          <a:p>
            <a:pPr algn="l">
              <a:spcAft>
                <a:spcPts val="9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Approval decision</a:t>
            </a:r>
          </a:p>
          <a:p>
            <a:pPr algn="l">
              <a:spcAft>
                <a:spcPts val="9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Invoice delivery</a:t>
            </a:r>
          </a:p>
          <a:p>
            <a:pPr algn="l">
              <a:spcAft>
                <a:spcPts val="9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Payment reminder</a:t>
            </a:r>
          </a:p>
          <a:p>
            <a:pPr algn="l">
              <a:spcAft>
                <a:spcPts val="9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Operational alerts</a:t>
            </a:r>
          </a:p>
          <a:p>
            <a:pPr algn="l">
              <a:spcAft>
                <a:spcPts val="900"/>
              </a:spcAft>
            </a:pPr>
            <a:r>
              <a:rPr sz="600" b="0">
                <a:solidFill>
                  <a:srgbClr val="666666"/>
                </a:solidFill>
                <a:latin typeface="Calibr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All from Ovation mailboxes - no third-party mail vendor.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Billing model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30920"/>
                </a:solidFill>
                <a:latin typeface="Calibri"/>
              </a:rPr>
              <a:t>Billing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Dedicated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Day-rate or hourly + OT + weekend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Dispatch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First-hour + per-hour; business / after-hours / weekend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0896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Project / T&amp;M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Per-band day/half/weekend/hourly + caps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4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Scheduled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Per-band scheduled visits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5303520" cy="713232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5029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Misc fees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666666"/>
                </a:solidFill>
                <a:latin typeface="Calibri"/>
              </a:rPr>
              <a:t>% on subtotal + flat (retainer, mileage, BGV...)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005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B30920"/>
                </a:solidFill>
                <a:latin typeface="Calibri"/>
              </a:rPr>
              <a:t>Outputs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463040"/>
            <a:ext cx="5212080" cy="14173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60020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HCL  -&gt;  FSO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FSO category sheets + Combined Pre-Invoice + Timesheet + Rate Sheet + Remittance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017520"/>
            <a:ext cx="5212080" cy="1417320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15468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All others  -&gt;  Pre-Invoice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Pre-Invoice + Timesheet + Rate Sheet + Remittance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4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B30920"/>
                </a:solidFill>
                <a:latin typeface="Calibri"/>
              </a:rPr>
              <a:t>Note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OT (quantity) is not OOB (time-of-day). Public holidays reduce the business-day denominator. PTO is paid to the technician but not charged to the client.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46304" cy="6858000"/>
          </a:xfrm>
          <a:prstGeom prst="roundRect">
            <a:avLst/>
          </a:prstGeom>
          <a:solidFill>
            <a:srgbClr val="B309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Roadmap - Microsoft-unified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3268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Goal: one tenant, one security review, one contract - everything inside Microsoft.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55064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Entra sign-in + SDM scoping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55064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@ovationwps.com-only; SDMs see only their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655064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B30920"/>
                </a:solidFill>
                <a:latin typeface="Calibri"/>
              </a:rPr>
              <a:t>Built - pending go-live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96312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551176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Hosting + database to Azure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51176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App Service + Azure PostgreSQL. Zero external vendors. Behavior-preserving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2551176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8A8A8A"/>
                </a:solidFill>
                <a:latin typeface="Calibri"/>
              </a:rPr>
              <a:t>Planned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92424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447288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Microsoft Graph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447288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Invoices, approvals, reminders, alerts from a real Ovation mailbox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447288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8A8A8A"/>
                </a:solidFill>
                <a:latin typeface="Calibri"/>
              </a:rPr>
              <a:t>Planned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88536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343400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Invoice approval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343400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No invoice reaches a client without sign-off; full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34340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8A8A8A"/>
                </a:solidFill>
                <a:latin typeface="Calibri"/>
              </a:rPr>
              <a:t>Planned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84648"/>
            <a:ext cx="10881360" cy="786384"/>
          </a:xfrm>
          <a:prstGeom prst="roundRect">
            <a:avLst/>
          </a:prstGeom>
          <a:solidFill>
            <a:srgbClr val="F6F1F2"/>
          </a:solidFill>
          <a:ln w="12700">
            <a:solidFill>
              <a:srgbClr val="E2D8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239512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Payment status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239512"/>
            <a:ext cx="49377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66666"/>
                </a:solidFill>
                <a:latin typeface="Calibri"/>
              </a:rPr>
              <a:t>Issue/due dates + paid status drive reminders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239512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8A8A8A"/>
                </a:solidFill>
                <a:latin typeface="Calibri"/>
              </a:rPr>
              <a:t>Planned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