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01168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1A1A1A"/>
                </a:solidFill>
                <a:latin typeface="Calibri"/>
              </a:rPr>
              <a:t>Ovation Invoicing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B30920"/>
                </a:solidFill>
                <a:latin typeface="Calibri"/>
              </a:rPr>
              <a:t>Business Workflow - onboarding to approved, delivered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Role-based access (Admin / SDM / Approver)  -  Microsoft Entra sign-in  -  approval &amp; delivery by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Internal invoice automation  - 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Steps 1-8 built &amp; in use   |   steps 9-10 planned (approval + email)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Onboard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Org + output template (FSO/Pre-Invoice)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62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62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Add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Billing unit + SDM owner assigned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48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Set rate 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Category x band x SLA + misc fees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34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4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Add technicians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Band, category, start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20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0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Assign 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8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Tech x account -&gt; active window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40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76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Monthly timesheet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Hours + day-codes; dispatch visits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3840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962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62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Edit / reconcile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0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Fix cells, coverage, exceptions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3840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248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48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Generate invoice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Pre-Invoice/FSO + bundle (xlsx)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Role-based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Microsoft Entra sign-in, restricted to @ovationwps.com. Visibility is row-level by account ownership.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420624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11880" cy="82296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Operations /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Sees ALL clients &amp; accounts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Manage clients, accounts, rate cards, technicians, masters, users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Generate AND approve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600200"/>
            <a:ext cx="3611880" cy="420624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16552" y="1600200"/>
            <a:ext cx="3611880" cy="82296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70992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SDM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1671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Service Delivery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517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Sees ONLY their own accounts (by SDM email)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Enter timesheets, log dispatch, generate invoices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Submit invoices for approval. No rate-card / master edits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Billing model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Billing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Dedicated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Day-rate or hourly + OT + weekend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Dispatch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First-hour + per-hour; business / after-hours / weekend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Project / T&amp;M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Per-band day/half/weekend/hourly + caps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Scheduled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Per-band scheduled visits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Misc fees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% on subtotal + flat (retainer, mileage, BGV...)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463040"/>
            <a:ext cx="5212080" cy="14173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60020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HCL  -&gt;  FSO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FSO category sheets + Combined Pre-Invoice + Timesheet + Rate Sheet + Remittance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17520"/>
            <a:ext cx="5212080" cy="14173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1546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All others  -&gt;  Pre-Invoice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Pre-Invoice + Timesheet + Rate Sheet + Remittance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4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30920"/>
                </a:solidFill>
                <a:latin typeface="Calibri"/>
              </a:rPr>
              <a:t>Note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OT (quantity) is not OOB (time-of-day). Public holidays reduce the business-day denominator. PTO is paid to the technician but not charged to the client.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Roadmap - Microsoft-unified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Goal: one tenant, one security review, one contract - everything inside Microsoft.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55064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Entra sign-in + SDM scoping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55064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@ovationwps.com-only; SDMs see only their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55064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30920"/>
                </a:solidFill>
                <a:latin typeface="Calibri"/>
              </a:rPr>
              <a:t>Built - pending go-live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551176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Hosting + database to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51176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App Service + Azure PostgreSQL. Zero external vendors. Behavior-preserving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51176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92424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447288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Microsoft Graph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47288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Invoices, approvals, reminders, alerts from a real Ovation mailbox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447288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88536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343400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Invoice approval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43400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No invoice reaches a client without sign-off; full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34340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84648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239512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Payment status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39512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Issue/due dates + paid status drive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239512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Side-by-side: what runs 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51560"/>
            <a:ext cx="3611880" cy="502920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078992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Proof of Concept (today)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3611880" cy="50292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078992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Production - Microsoft /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App + billing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78308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78308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Next.js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697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Next.js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78308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2E7D46"/>
                </a:solidFill>
                <a:latin typeface="Calibri"/>
              </a:rPr>
              <a:t>no change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532120" y="190195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42316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Identity / sign-in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42316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65960" y="242316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Microsoft Entra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423160"/>
            <a:ext cx="3611880" cy="566928"/>
          </a:xfrm>
          <a:prstGeom prst="roundRect">
            <a:avLst/>
          </a:prstGeom>
          <a:solidFill>
            <a:srgbClr val="E7F1E9"/>
          </a:solidFill>
          <a:ln w="12700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423160"/>
            <a:ext cx="2697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Microsoft Entra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2316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2E7D46"/>
                </a:solidFill>
                <a:latin typeface="Calibri"/>
              </a:rPr>
              <a:t>no change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32120" y="254203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306324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Hosting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06324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0" y="306324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Vercel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06324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06324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Azure App Service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532120" y="318211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370332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370332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65960" y="370332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PostgreSQL on Neon (AWS)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0332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70332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Azure Database for PostgreSQL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532120" y="382219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434340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Secrets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434340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65960" y="434340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Vercel env vars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34340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34340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Azure Key Vault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532120" y="446227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" y="498348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Email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0" y="498348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65960" y="498348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None (manual send)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98348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498348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Microsoft Graph - Ovation mailbox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532120" y="510235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5623560"/>
            <a:ext cx="1371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CI/CD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5623560"/>
            <a:ext cx="3611880" cy="566928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65960" y="562356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GitHub -&gt; Vercel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623560"/>
            <a:ext cx="3611880" cy="566928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46520" y="5623560"/>
            <a:ext cx="3337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GitHub Actions -&gt; Azure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5532120" y="5742432"/>
            <a:ext cx="640080" cy="329184"/>
          </a:xfrm>
          <a:prstGeom prst="rightArrow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62636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Minor: the public geocoding fallback is replaced by Azure Maps or the local table. Net: zero non-Microsoft vendors.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1A1A1A"/>
                </a:solidFill>
                <a:latin typeface="Calibri"/>
              </a:rPr>
              <a:t>Why the move is low-risk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2651760"/>
          </a:xfrm>
          <a:prstGeom prst="roundRect">
            <a:avLst/>
          </a:prstGeom>
          <a:solidFill>
            <a:srgbClr val="E7F1E9"/>
          </a:solidFill>
          <a:ln w="15875">
            <a:solidFill>
              <a:srgbClr val="2E7D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E7D46"/>
                </a:solidFill>
                <a:latin typeface="Calibri"/>
              </a:rPr>
              <a:t>Stays exactly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Application code + billing / invoice logic (built &amp; validated)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PostgreSQL engine (Neon and Azure are the same Postgres)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Microsoft Entra ID identity + @ovationwps.com gate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Data model and all existing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2651760"/>
          </a:xfrm>
          <a:prstGeom prst="roundRect">
            <a:avLst/>
          </a:prstGeom>
          <a:solidFill>
            <a:srgbClr val="F6F1F2"/>
          </a:solidFill>
          <a:ln w="15875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344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Only this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Where it runs: Vercel -&gt; Azure App Service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Where data lives: Neon -&gt; Azure PostgreSQL (data copy)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Secrets -&gt; Azure Key Vault; pipeline -&gt; Azure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Plus new: Microsoft Graph email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666666"/>
                </a:solidFill>
                <a:latin typeface="Calibri"/>
              </a:rPr>
              <a:t>One build setting in code; the rest is hosting +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ISO 27001 posture (production)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52628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Data residency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All data inside Azure / the tenant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443484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9704" y="452628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Vendors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Single vendor (Microsoft), existing agreements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443484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452628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Access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Entra, @ovationwps.com, role-based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623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Secrets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Azure Key Vault + managed identity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553212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5623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Email records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Graph -&gt; Exchange Sent Items + retention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5532120"/>
            <a:ext cx="3611880" cy="9601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6176" y="5623560"/>
            <a:ext cx="3291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Audit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Entra sign-in; invoice + email logged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702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Karandeep Singh Talwar</cp:lastModifiedBy>
  <cp:revision>2</cp:revision>
  <dcterms:created xsi:type="dcterms:W3CDTF">2013-01-27T09:14:16Z</dcterms:created>
  <dcterms:modified xsi:type="dcterms:W3CDTF">2026-06-18T02:58:29Z</dcterms:modified>
  <cp:category/>
</cp:coreProperties>
</file>